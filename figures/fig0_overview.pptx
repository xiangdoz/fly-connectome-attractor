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00800" cy="23957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" y="18288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B0B0B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27432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0B0B0B"/>
                </a:solidFill>
                <a:latin typeface="Arial"/>
              </a:rPr>
              <a:t>An uncertain 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" y="365760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20" b="0" i="0">
                <a:solidFill>
                  <a:srgbClr val="52514E"/>
                </a:solidFill>
                <a:latin typeface="Arial"/>
              </a:rPr>
              <a:t>synapse-level transmitter votes,</a:t>
            </a:r>
          </a:p>
          <a:p>
            <a:pPr algn="l"/>
            <a:r>
              <a:rPr sz="620" b="0" i="0">
                <a:solidFill>
                  <a:srgbClr val="52514E"/>
                </a:solidFill>
                <a:latin typeface="Arial"/>
              </a:rPr>
              <a:t>cell type </a:t>
            </a:r>
            <a:r>
              <a:rPr sz="660">
                <a:solidFill>
                  <a:srgbClr val="52514E"/>
                </a:solidFill>
                <a:latin typeface="Cambria"/>
              </a:rPr>
              <a:t>lLN1_bc</a:t>
            </a:r>
          </a:p>
        </p:txBody>
      </p:sp>
      <p:pic>
        <p:nvPicPr>
          <p:cNvPr id="5" name="Picture 4" descr="vo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658368"/>
            <a:ext cx="118872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" y="155448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EB6834"/>
                </a:solidFill>
                <a:latin typeface="Arial"/>
              </a:rPr>
              <a:t>model sign: 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" y="1810512"/>
            <a:ext cx="1234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20" b="0" i="0">
                <a:solidFill>
                  <a:srgbClr val="52514E"/>
                </a:solidFill>
                <a:latin typeface="Arial"/>
              </a:rPr>
              <a:t>19,042 neurons have no</a:t>
            </a:r>
          </a:p>
          <a:p>
            <a:pPr algn="l"/>
            <a:r>
              <a:rPr sz="620" b="0" i="0">
                <a:solidFill>
                  <a:srgbClr val="52514E"/>
                </a:solidFill>
                <a:latin typeface="Arial"/>
              </a:rPr>
              <a:t>transmitter call; a convention</a:t>
            </a:r>
          </a:p>
          <a:p>
            <a:pPr algn="l"/>
            <a:r>
              <a:rPr sz="620" b="0" i="0">
                <a:solidFill>
                  <a:srgbClr val="52514E"/>
                </a:solidFill>
                <a:latin typeface="Arial"/>
              </a:rPr>
              <a:t>sets their sign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61872" y="960120"/>
            <a:ext cx="100584" cy="0"/>
          </a:xfrm>
          <a:prstGeom prst="line">
            <a:avLst/>
          </a:prstGeom>
          <a:ln w="9525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417320" y="18288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B0B0B"/>
                </a:solidFill>
                <a:latin typeface="Arial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912" y="2743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0B0B0B"/>
                </a:solidFill>
                <a:latin typeface="Arial"/>
              </a:rPr>
              <a:t>A hidden attractor</a:t>
            </a:r>
          </a:p>
        </p:txBody>
      </p:sp>
      <p:pic>
        <p:nvPicPr>
          <p:cNvPr id="11" name="Picture 10" descr="tra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74320"/>
            <a:ext cx="1280160" cy="1417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81328" y="1810512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20" b="0" i="0">
                <a:solidFill>
                  <a:srgbClr val="52514E"/>
                </a:solidFill>
                <a:latin typeface="Arial"/>
              </a:rPr>
              <a:t>same input, two outcomes;</a:t>
            </a:r>
          </a:p>
          <a:p>
            <a:pPr algn="l"/>
            <a:r>
              <a:rPr sz="620" b="0" i="0">
                <a:solidFill>
                  <a:srgbClr val="52514E"/>
                </a:solidFill>
                <a:latin typeface="Arial"/>
              </a:rPr>
              <a:t>the state lasts &gt; 10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8288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B0B0B"/>
                </a:solidFill>
                <a:latin typeface="Arial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2" y="27432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0B0B0B"/>
                </a:solidFill>
                <a:latin typeface="Arial"/>
              </a:rPr>
              <a:t>The screen, from wiring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32918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20" b="0" i="0">
                <a:solidFill>
                  <a:srgbClr val="52514E"/>
                </a:solidFill>
                <a:latin typeface="Arial"/>
              </a:rPr>
              <a:t>1  persistent set P;</a:t>
            </a:r>
          </a:p>
          <a:p>
            <a:pPr algn="l"/>
            <a:r>
              <a:rPr sz="620" b="0" i="0">
                <a:solidFill>
                  <a:srgbClr val="52514E"/>
                </a:solidFill>
                <a:latin typeface="Arial"/>
              </a:rPr>
              <a:t>    signed wiring τW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5112" y="329184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20" b="0" i="0">
                <a:solidFill>
                  <a:srgbClr val="52514E"/>
                </a:solidFill>
                <a:latin typeface="Arial"/>
              </a:rPr>
              <a:t>3  rank by Δλ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329184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20" b="0" i="0">
                <a:solidFill>
                  <a:srgbClr val="52514E"/>
                </a:solidFill>
                <a:latin typeface="Arial"/>
              </a:rPr>
              <a:t>2  leading</a:t>
            </a:r>
          </a:p>
          <a:p>
            <a:pPr algn="l"/>
            <a:r>
              <a:rPr sz="620" b="0" i="0">
                <a:solidFill>
                  <a:srgbClr val="52514E"/>
                </a:solidFill>
                <a:latin typeface="Arial"/>
              </a:rPr>
              <a:t>    mode</a:t>
            </a:r>
          </a:p>
        </p:txBody>
      </p:sp>
      <p:pic>
        <p:nvPicPr>
          <p:cNvPr id="18" name="Picture 17" descr="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6352" y="658368"/>
            <a:ext cx="1051560" cy="10515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816352" y="1737360"/>
            <a:ext cx="368045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0" i="0">
                <a:solidFill>
                  <a:srgbClr val="52514E"/>
                </a:solidFill>
                <a:latin typeface="Arial"/>
              </a:rPr>
              <a:t>AL local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4398" y="1737360"/>
            <a:ext cx="29443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0" i="0">
                <a:solidFill>
                  <a:srgbClr val="52514E"/>
                </a:solidFill>
                <a:latin typeface="Arial"/>
              </a:rPr>
              <a:t>AL proj.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8834" y="1737360"/>
            <a:ext cx="220827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0" i="0">
                <a:solidFill>
                  <a:srgbClr val="52514E"/>
                </a:solidFill>
                <a:latin typeface="Arial"/>
              </a:rPr>
              <a:t>KC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950208" y="1188720"/>
            <a:ext cx="347472" cy="0"/>
          </a:xfrm>
          <a:prstGeom prst="line">
            <a:avLst/>
          </a:prstGeom>
          <a:ln w="12700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rank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658368"/>
            <a:ext cx="960120" cy="10515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343400" y="173736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0" i="0">
                <a:solidFill>
                  <a:srgbClr val="EB6834"/>
                </a:solidFill>
                <a:latin typeface="Arial"/>
              </a:rPr>
              <a:t>orange: core cells</a:t>
            </a:r>
          </a:p>
          <a:p>
            <a:pPr algn="l"/>
            <a:r>
              <a:rPr sz="580" b="0" i="0">
                <a:solidFill>
                  <a:srgbClr val="EB6834"/>
                </a:solidFill>
                <a:latin typeface="Arial"/>
              </a:rPr>
              <a:t>(the top 66 of 376)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16352" y="202996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0" i="0">
                <a:solidFill>
                  <a:srgbClr val="52514E"/>
                </a:solidFill>
                <a:latin typeface="Arial"/>
              </a:rPr>
              <a:t>excitation is shown in orange, inhibition in blue; core cells carry</a:t>
            </a:r>
          </a:p>
          <a:p>
            <a:pPr algn="l"/>
            <a:r>
              <a:rPr sz="580" b="0" i="0">
                <a:solidFill>
                  <a:srgbClr val="52514E"/>
                </a:solidFill>
                <a:latin typeface="Arial"/>
              </a:rPr>
              <a:t>24% of the leading mode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68112" y="18288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B0B0B"/>
                </a:solidFill>
                <a:latin typeface="Arial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32704" y="27432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0B0B0B"/>
                </a:solidFill>
                <a:latin typeface="Arial"/>
              </a:rPr>
              <a:t>Check</a:t>
            </a:r>
          </a:p>
        </p:txBody>
      </p:sp>
      <p:pic>
        <p:nvPicPr>
          <p:cNvPr id="28" name="Picture 27" descr="valid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329184"/>
            <a:ext cx="914400" cy="12801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468112" y="164592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52514E"/>
                </a:solidFill>
                <a:latin typeface="Arial"/>
              </a:rPr>
              <a:t>re-signed cells;</a:t>
            </a:r>
          </a:p>
          <a:p>
            <a:pPr algn="l"/>
            <a:r>
              <a:rPr sz="600" b="0" i="0">
                <a:solidFill>
                  <a:srgbClr val="52514E"/>
                </a:solidFill>
                <a:latin typeface="Arial"/>
              </a:rPr>
              <a:t>validated MN9</a:t>
            </a:r>
          </a:p>
          <a:p>
            <a:pPr algn="l"/>
            <a:r>
              <a:rPr sz="600" b="0" i="0">
                <a:solidFill>
                  <a:srgbClr val="52514E"/>
                </a:solidFill>
                <a:latin typeface="Arial"/>
              </a:rPr>
              <a:t>responses unchanged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679192" y="960120"/>
            <a:ext cx="100584" cy="0"/>
          </a:xfrm>
          <a:prstGeom prst="line">
            <a:avLst/>
          </a:prstGeom>
          <a:ln w="9525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321808" y="960120"/>
            <a:ext cx="100584" cy="0"/>
          </a:xfrm>
          <a:prstGeom prst="line">
            <a:avLst/>
          </a:prstGeom>
          <a:ln w="9525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
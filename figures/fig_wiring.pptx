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2331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" y="18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B0B0B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9" y="2743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B0B0B"/>
                </a:solidFill>
                <a:latin typeface="Arial"/>
              </a:rPr>
              <a:t>Membership from the mean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0552" y="18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B0B0B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5144" y="2743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B0B0B"/>
                </a:solidFill>
                <a:latin typeface="Arial"/>
              </a:rPr>
              <a:t>Outputs removed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18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B0B0B"/>
                </a:solidFill>
                <a:latin typeface="Arial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743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B0B0B"/>
                </a:solidFill>
                <a:latin typeface="Arial"/>
              </a:rPr>
              <a:t>The loop that sustains it</a:t>
            </a:r>
          </a:p>
        </p:txBody>
      </p:sp>
      <p:pic>
        <p:nvPicPr>
          <p:cNvPr id="8" name="Picture 7" descr="memb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274320"/>
            <a:ext cx="1965960" cy="1965960"/>
          </a:xfrm>
          <a:prstGeom prst="rect">
            <a:avLst/>
          </a:prstGeom>
        </p:spPr>
      </p:pic>
      <p:pic>
        <p:nvPicPr>
          <p:cNvPr id="9" name="Picture 8" descr="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74320"/>
            <a:ext cx="196596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960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" b="0">
                <a:solidFill>
                  <a:srgbClr val="52514E"/>
                </a:solidFill>
                <a:latin typeface="Arial"/>
              </a:rPr>
              <a:t>Jaccard 0.70</a:t>
            </a:r>
          </a:p>
          <a:p>
            <a:pPr algn="l"/>
            <a:r>
              <a:rPr sz="620" b="0">
                <a:solidFill>
                  <a:srgbClr val="52514E"/>
                </a:solidFill>
                <a:latin typeface="Arial"/>
              </a:rPr>
              <a:t>(random sets 0.06)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2836" y="777240"/>
            <a:ext cx="167830" cy="0"/>
          </a:xfrm>
          <a:prstGeom prst="line">
            <a:avLst/>
          </a:prstGeom>
          <a:ln w="22589">
            <a:solidFill>
              <a:srgbClr val="EB68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75085" y="777240"/>
            <a:ext cx="113382" cy="0"/>
          </a:xfrm>
          <a:prstGeom prst="line">
            <a:avLst/>
          </a:prstGeom>
          <a:ln w="46970">
            <a:solidFill>
              <a:srgbClr val="EB68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924877"/>
            <a:ext cx="0" cy="349228"/>
          </a:xfrm>
          <a:prstGeom prst="line">
            <a:avLst/>
          </a:prstGeom>
          <a:ln w="28661">
            <a:solidFill>
              <a:srgbClr val="EB68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791456" y="934021"/>
            <a:ext cx="0" cy="349228"/>
          </a:xfrm>
          <a:prstGeom prst="line">
            <a:avLst/>
          </a:prstGeom>
          <a:ln w="28922">
            <a:solidFill>
              <a:srgbClr val="EB68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302252" y="736092"/>
            <a:ext cx="82296" cy="82296"/>
          </a:xfrm>
          <a:prstGeom prst="ellipse">
            <a:avLst/>
          </a:prstGeom>
          <a:solidFill>
            <a:srgbClr val="CFCDC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83667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ORN</a:t>
            </a:r>
          </a:p>
        </p:txBody>
      </p:sp>
      <p:sp>
        <p:nvSpPr>
          <p:cNvPr id="17" name="Oval 16"/>
          <p:cNvSpPr/>
          <p:nvPr/>
        </p:nvSpPr>
        <p:spPr>
          <a:xfrm>
            <a:off x="4598098" y="647890"/>
            <a:ext cx="258698" cy="258698"/>
          </a:xfrm>
          <a:prstGeom prst="ellipse">
            <a:avLst/>
          </a:prstGeom>
          <a:solidFill>
            <a:srgbClr val="CFCDC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50158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PN</a:t>
            </a:r>
          </a:p>
        </p:txBody>
      </p:sp>
      <p:sp>
        <p:nvSpPr>
          <p:cNvPr id="19" name="Oval 18"/>
          <p:cNvSpPr/>
          <p:nvPr/>
        </p:nvSpPr>
        <p:spPr>
          <a:xfrm>
            <a:off x="5015899" y="672499"/>
            <a:ext cx="209480" cy="209480"/>
          </a:xfrm>
          <a:prstGeom prst="ellipse">
            <a:avLst/>
          </a:prstGeom>
          <a:solidFill>
            <a:srgbClr val="CFCDC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90026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KC</a:t>
            </a:r>
          </a:p>
        </p:txBody>
      </p:sp>
      <p:sp>
        <p:nvSpPr>
          <p:cNvPr id="21" name="Oval 20"/>
          <p:cNvSpPr/>
          <p:nvPr/>
        </p:nvSpPr>
        <p:spPr>
          <a:xfrm>
            <a:off x="4593377" y="1301537"/>
            <a:ext cx="268140" cy="268140"/>
          </a:xfrm>
          <a:prstGeom prst="ellipse">
            <a:avLst/>
          </a:prstGeom>
          <a:solidFill>
            <a:srgbClr val="EB683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58796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core LN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36692" y="777240"/>
            <a:ext cx="167830" cy="0"/>
          </a:xfrm>
          <a:prstGeom prst="line">
            <a:avLst/>
          </a:prstGeom>
          <a:ln w="22589">
            <a:solidFill>
              <a:srgbClr val="EB68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08941" y="777240"/>
            <a:ext cx="113382" cy="0"/>
          </a:xfrm>
          <a:prstGeom prst="line">
            <a:avLst/>
          </a:prstGeom>
          <a:ln w="46970">
            <a:solidFill>
              <a:srgbClr val="EB68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97296" y="924877"/>
            <a:ext cx="0" cy="349228"/>
          </a:xfrm>
          <a:prstGeom prst="line">
            <a:avLst/>
          </a:prstGeom>
          <a:ln w="28661">
            <a:solidFill>
              <a:srgbClr val="EB68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925312" y="934021"/>
            <a:ext cx="0" cy="349228"/>
          </a:xfrm>
          <a:prstGeom prst="line">
            <a:avLst/>
          </a:prstGeom>
          <a:ln w="30465">
            <a:solidFill>
              <a:srgbClr val="2A78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436108" y="736092"/>
            <a:ext cx="82296" cy="82296"/>
          </a:xfrm>
          <a:prstGeom prst="ellipse">
            <a:avLst/>
          </a:prstGeom>
          <a:solidFill>
            <a:srgbClr val="CFCDC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496" y="83667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ORN</a:t>
            </a:r>
          </a:p>
        </p:txBody>
      </p:sp>
      <p:sp>
        <p:nvSpPr>
          <p:cNvPr id="29" name="Oval 28"/>
          <p:cNvSpPr/>
          <p:nvPr/>
        </p:nvSpPr>
        <p:spPr>
          <a:xfrm>
            <a:off x="5731954" y="647890"/>
            <a:ext cx="258698" cy="258698"/>
          </a:xfrm>
          <a:prstGeom prst="ellipse">
            <a:avLst/>
          </a:prstGeom>
          <a:solidFill>
            <a:srgbClr val="CFCDC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95544" y="50158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PN</a:t>
            </a:r>
          </a:p>
        </p:txBody>
      </p:sp>
      <p:sp>
        <p:nvSpPr>
          <p:cNvPr id="31" name="Oval 30"/>
          <p:cNvSpPr/>
          <p:nvPr/>
        </p:nvSpPr>
        <p:spPr>
          <a:xfrm>
            <a:off x="6149755" y="672499"/>
            <a:ext cx="209480" cy="209480"/>
          </a:xfrm>
          <a:prstGeom prst="ellipse">
            <a:avLst/>
          </a:prstGeom>
          <a:solidFill>
            <a:srgbClr val="CFCDC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88736" y="90026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KC</a:t>
            </a:r>
          </a:p>
        </p:txBody>
      </p:sp>
      <p:sp>
        <p:nvSpPr>
          <p:cNvPr id="33" name="Oval 32"/>
          <p:cNvSpPr/>
          <p:nvPr/>
        </p:nvSpPr>
        <p:spPr>
          <a:xfrm>
            <a:off x="5727233" y="1301537"/>
            <a:ext cx="268140" cy="268140"/>
          </a:xfrm>
          <a:prstGeom prst="ellipse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5544" y="158796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" b="0">
                <a:solidFill>
                  <a:srgbClr val="0B0B0B"/>
                </a:solidFill>
                <a:latin typeface="Arial"/>
              </a:rPr>
              <a:t>core LN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170078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" b="0">
                <a:solidFill>
                  <a:srgbClr val="0B0B0B"/>
                </a:solidFill>
                <a:latin typeface="Arial"/>
              </a:rPr>
              <a:t>model signs</a:t>
            </a:r>
          </a:p>
          <a:p>
            <a:pPr algn="ctr"/>
            <a:r>
              <a:rPr sz="640" b="0">
                <a:solidFill>
                  <a:srgbClr val="0B0B0B"/>
                </a:solidFill>
                <a:latin typeface="Arial"/>
              </a:rPr>
              <a:t>λ = 2.98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8384" y="170078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" b="0">
                <a:solidFill>
                  <a:srgbClr val="0B0B0B"/>
                </a:solidFill>
                <a:latin typeface="Arial"/>
              </a:rPr>
              <a:t>core re-signed</a:t>
            </a:r>
          </a:p>
          <a:p>
            <a:pPr algn="ctr"/>
            <a:r>
              <a:rPr sz="640" b="0">
                <a:solidFill>
                  <a:srgbClr val="0B0B0B"/>
                </a:solidFill>
                <a:latin typeface="Arial"/>
              </a:rPr>
              <a:t>λ = 0.65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2066543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0">
                <a:solidFill>
                  <a:srgbClr val="52514E"/>
                </a:solidFill>
                <a:latin typeface="Arial"/>
              </a:rPr>
              <a:t>orange excitatory, blue inhibitory; node area: share of the leading mode; edge width: summed weight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